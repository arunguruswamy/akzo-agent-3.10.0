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169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the 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64240" cy="9144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1371600"/>
            <a:ext cx="11064240" cy="914400"/>
          </a:xfrm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 b="1" dirty="0">
                <a:solidFill>
                  <a:srgbClr val="FFFFFF"/>
                </a:solidFill>
                <a:latin typeface="Cambria"/>
              </a:rPr>
              <a:t>Akzo Master SDD Agent 3.4.1</a:t>
            </a:r>
          </a:p>
        </p:txBody>
      </p:sp>
      <p:sp>
        <p:nvSpPr>
          <p:cNvPr id="3" name="Subtitle 3"/>
          <p:cNvSpPr txBox="1"/>
          <p:nvPr/>
        </p:nvSpPr>
        <p:spPr>
          <a:xfrm>
            <a:off x="548640" y="246888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0" dirty="0">
                <a:solidFill>
                  <a:srgbClr val="DCE8EA"/>
                </a:solidFill>
                <a:latin typeface="Calibri"/>
              </a:rPr>
              <a:t>Spec-driven development in GitHub Copilot: reuse first, human-gated, with repository memory and a corporate security gate</a:t>
            </a:r>
          </a:p>
        </p:txBody>
      </p:sp>
      <p:sp>
        <p:nvSpPr>
          <p:cNvPr id="4" name="Status 4"/>
          <p:cNvSpPr txBox="1"/>
          <p:nvPr/>
        </p:nvSpPr>
        <p:spPr>
          <a:xfrm>
            <a:off x="548640" y="402336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rgbClr val="F2B35E"/>
                </a:solidFill>
                <a:latin typeface="Calibri"/>
              </a:rPr>
              <a:t>Release candidate  ·  corporate readiness: NOT VERIFIED</a:t>
            </a:r>
          </a:p>
        </p:txBody>
      </p:sp>
      <p:sp>
        <p:nvSpPr>
          <p:cNvPr id="5" name="Credit 5"/>
          <p:cNvSpPr txBox="1"/>
          <p:nvPr/>
        </p:nvSpPr>
        <p:spPr>
          <a:xfrm>
            <a:off x="548640" y="59436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A9BEC3"/>
                </a:solidFill>
                <a:latin typeface="Calibri"/>
              </a:rPr>
              <a:t>Akzo SDD Agent — Developed and maintained by Arun 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51560"/>
          </a:xfrm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10242B"/>
                </a:solidFill>
                <a:latin typeface="Cambria"/>
              </a:rPr>
              <a:t>One agent takes a PBI from document to verified code</a:t>
            </a:r>
          </a:p>
        </p:txBody>
      </p:sp>
      <p:sp>
        <p:nvSpPr>
          <p:cNvPr id="3" name="Card 3"/>
          <p:cNvSpPr/>
          <p:nvPr/>
        </p:nvSpPr>
        <p:spPr>
          <a:xfrm>
            <a:off x="548640" y="160020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228600" tIns="137160" rIns="22860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 b="1" dirty="0">
                <a:solidFill>
                  <a:srgbClr val="1F5F6B"/>
                </a:solidFill>
                <a:latin typeface="Calibri"/>
              </a:rPr>
              <a:t>Reuse before new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Every requirement is classed EXISTING, REUSABLE, EXTEND, NEW, or UNKNOWN with file:line evidence. NEW is allowed only after a recorded search.</a:t>
            </a:r>
          </a:p>
        </p:txBody>
      </p:sp>
      <p:sp>
        <p:nvSpPr>
          <p:cNvPr id="4" name="Card 4"/>
          <p:cNvSpPr/>
          <p:nvPr/>
        </p:nvSpPr>
        <p:spPr>
          <a:xfrm>
            <a:off x="4297680" y="160020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228600" tIns="137160" rIns="22860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 b="1" dirty="0">
                <a:solidFill>
                  <a:srgbClr val="1F5F6B"/>
                </a:solidFill>
                <a:latin typeface="Calibri"/>
              </a:rPr>
              <a:t>You stay in control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It stops for your approval after the gap map, the spec, and the plan. Auto Mode runs alone inside a scope you authorize and still stops for risky actions.</a:t>
            </a:r>
          </a:p>
        </p:txBody>
      </p:sp>
      <p:sp>
        <p:nvSpPr>
          <p:cNvPr id="5" name="Card 5"/>
          <p:cNvSpPr/>
          <p:nvPr/>
        </p:nvSpPr>
        <p:spPr>
          <a:xfrm>
            <a:off x="8046720" y="160020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228600" tIns="137160" rIns="22860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 b="1" dirty="0">
                <a:solidFill>
                  <a:srgbClr val="1F5F6B"/>
                </a:solidFill>
                <a:latin typeface="Calibri"/>
              </a:rPr>
              <a:t>Evidence, not claims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Baseline against final build, tests, and analyzers. A check that did not run says so. Nothing is committed, pushed, or deployed by the agent.</a:t>
            </a:r>
          </a:p>
        </p:txBody>
      </p:sp>
      <p:sp>
        <p:nvSpPr>
          <p:cNvPr id="6" name="Note 6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55666C"/>
                </a:solidFill>
                <a:latin typeface="Calibri"/>
              </a:rPr>
              <a:t>Works in VS Code and Visual Studio 2026 as one custom Copilot agent, akzo-master-sdd. Project-agnostic: stack rules apply only when the repository shows that stack.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0973" rIns="18288" bIns="10973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5666C"/>
                </a:solidFill>
                <a:latin typeface="Calibri"/>
              </a:rPr>
              <a:t>Akzo SDD Agent — Developed and maintained by Arun RG  ·  3.4.1 release candidate  ·  corporate readiness: NOT VERIFIED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51560"/>
          </a:xfrm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10242B"/>
                </a:solidFill>
                <a:latin typeface="Cambria"/>
              </a:rPr>
              <a:t>End-to-end workflow, with five gates</a:t>
            </a:r>
          </a:p>
        </p:txBody>
      </p:sp>
      <p:sp>
        <p:nvSpPr>
          <p:cNvPr id="3" name="Step 3"/>
          <p:cNvSpPr/>
          <p:nvPr/>
        </p:nvSpPr>
        <p:spPr>
          <a:xfrm>
            <a:off x="548640" y="1600200"/>
            <a:ext cx="204825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137160" tIns="82296" rIns="137160" bIns="82296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800" b="1" dirty="0">
                <a:solidFill>
                  <a:srgbClr val="1F5F6B"/>
                </a:solidFill>
                <a:latin typeface="Calibri"/>
              </a:rPr>
              <a:t>1  Intake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PBI and documents, converted once</a:t>
            </a:r>
          </a:p>
        </p:txBody>
      </p:sp>
      <p:sp>
        <p:nvSpPr>
          <p:cNvPr id="4" name="Step 4"/>
          <p:cNvSpPr/>
          <p:nvPr/>
        </p:nvSpPr>
        <p:spPr>
          <a:xfrm>
            <a:off x="2802636" y="1600200"/>
            <a:ext cx="204825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137160" tIns="82296" rIns="137160" bIns="82296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800" b="1" dirty="0">
                <a:solidFill>
                  <a:srgbClr val="1F5F6B"/>
                </a:solidFill>
                <a:latin typeface="Calibri"/>
              </a:rPr>
              <a:t>2  Memory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index, symbols, verified facts</a:t>
            </a:r>
          </a:p>
        </p:txBody>
      </p:sp>
      <p:sp>
        <p:nvSpPr>
          <p:cNvPr id="5" name="Step 5"/>
          <p:cNvSpPr/>
          <p:nvPr/>
        </p:nvSpPr>
        <p:spPr>
          <a:xfrm>
            <a:off x="5056632" y="1600200"/>
            <a:ext cx="204825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137160" tIns="82296" rIns="137160" bIns="82296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800" b="1" dirty="0">
                <a:solidFill>
                  <a:srgbClr val="1F5F6B"/>
                </a:solidFill>
                <a:latin typeface="Calibri"/>
              </a:rPr>
              <a:t>3  Gap map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what exists, reused, extended, new</a:t>
            </a:r>
          </a:p>
        </p:txBody>
      </p:sp>
      <p:sp>
        <p:nvSpPr>
          <p:cNvPr id="6" name="Gate 6"/>
          <p:cNvSpPr/>
          <p:nvPr/>
        </p:nvSpPr>
        <p:spPr>
          <a:xfrm>
            <a:off x="6391656" y="1444752"/>
            <a:ext cx="603504" cy="310896"/>
          </a:xfrm>
          <a:prstGeom prst="roundRect">
            <a:avLst>
              <a:gd name="adj" fmla="val 30000"/>
            </a:avLst>
          </a:prstGeom>
          <a:solidFill>
            <a:srgbClr val="C77A12"/>
          </a:solidFill>
          <a:ln>
            <a:noFill/>
          </a:ln>
        </p:spPr>
        <p:txBody>
          <a:bodyPr wrap="square" lIns="18288" tIns="10973" rIns="18288" bIns="10973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  <a:latin typeface="Calibri"/>
              </a:rPr>
              <a:t>G2</a:t>
            </a:r>
          </a:p>
        </p:txBody>
      </p:sp>
      <p:sp>
        <p:nvSpPr>
          <p:cNvPr id="7" name="Step 7"/>
          <p:cNvSpPr/>
          <p:nvPr/>
        </p:nvSpPr>
        <p:spPr>
          <a:xfrm>
            <a:off x="7310628" y="1600200"/>
            <a:ext cx="204825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137160" tIns="82296" rIns="137160" bIns="82296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800" b="1" dirty="0">
                <a:solidFill>
                  <a:srgbClr val="1F5F6B"/>
                </a:solidFill>
                <a:latin typeface="Calibri"/>
              </a:rPr>
              <a:t>4  Spec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measurable acceptance criteria</a:t>
            </a:r>
          </a:p>
        </p:txBody>
      </p:sp>
      <p:sp>
        <p:nvSpPr>
          <p:cNvPr id="8" name="Gate 8"/>
          <p:cNvSpPr/>
          <p:nvPr/>
        </p:nvSpPr>
        <p:spPr>
          <a:xfrm>
            <a:off x="8645652" y="1444752"/>
            <a:ext cx="603504" cy="310896"/>
          </a:xfrm>
          <a:prstGeom prst="roundRect">
            <a:avLst>
              <a:gd name="adj" fmla="val 30000"/>
            </a:avLst>
          </a:prstGeom>
          <a:solidFill>
            <a:srgbClr val="C77A12"/>
          </a:solidFill>
          <a:ln>
            <a:noFill/>
          </a:ln>
        </p:spPr>
        <p:txBody>
          <a:bodyPr wrap="square" lIns="18288" tIns="10973" rIns="18288" bIns="10973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  <a:latin typeface="Calibri"/>
              </a:rPr>
              <a:t>G3</a:t>
            </a:r>
          </a:p>
        </p:txBody>
      </p:sp>
      <p:sp>
        <p:nvSpPr>
          <p:cNvPr id="9" name="Step 9"/>
          <p:cNvSpPr/>
          <p:nvPr/>
        </p:nvSpPr>
        <p:spPr>
          <a:xfrm>
            <a:off x="9564624" y="1600200"/>
            <a:ext cx="204825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137160" tIns="82296" rIns="137160" bIns="82296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800" b="1" dirty="0">
                <a:solidFill>
                  <a:srgbClr val="1F5F6B"/>
                </a:solidFill>
                <a:latin typeface="Calibri"/>
              </a:rPr>
              <a:t>5  Plan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tasks, reuse list, consistency check</a:t>
            </a:r>
          </a:p>
        </p:txBody>
      </p:sp>
      <p:sp>
        <p:nvSpPr>
          <p:cNvPr id="10" name="Gate 10"/>
          <p:cNvSpPr/>
          <p:nvPr/>
        </p:nvSpPr>
        <p:spPr>
          <a:xfrm>
            <a:off x="10899648" y="1444752"/>
            <a:ext cx="603504" cy="310896"/>
          </a:xfrm>
          <a:prstGeom prst="roundRect">
            <a:avLst>
              <a:gd name="adj" fmla="val 30000"/>
            </a:avLst>
          </a:prstGeom>
          <a:solidFill>
            <a:srgbClr val="C77A12"/>
          </a:solidFill>
          <a:ln>
            <a:noFill/>
          </a:ln>
        </p:spPr>
        <p:txBody>
          <a:bodyPr wrap="square" lIns="18288" tIns="10973" rIns="18288" bIns="10973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  <a:latin typeface="Calibri"/>
              </a:rPr>
              <a:t>G4</a:t>
            </a:r>
          </a:p>
        </p:txBody>
      </p:sp>
      <p:sp>
        <p:nvSpPr>
          <p:cNvPr id="11" name="Step 11"/>
          <p:cNvSpPr/>
          <p:nvPr/>
        </p:nvSpPr>
        <p:spPr>
          <a:xfrm>
            <a:off x="548640" y="3611880"/>
            <a:ext cx="204825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137160" tIns="82296" rIns="137160" bIns="82296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800" b="1" dirty="0">
                <a:solidFill>
                  <a:srgbClr val="1F5F6B"/>
                </a:solidFill>
                <a:latin typeface="Calibri"/>
              </a:rPr>
              <a:t>6  Implement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tests first, small slices</a:t>
            </a:r>
          </a:p>
        </p:txBody>
      </p:sp>
      <p:sp>
        <p:nvSpPr>
          <p:cNvPr id="12" name="Step 12"/>
          <p:cNvSpPr/>
          <p:nvPr/>
        </p:nvSpPr>
        <p:spPr>
          <a:xfrm>
            <a:off x="2802636" y="3611880"/>
            <a:ext cx="204825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137160" tIns="82296" rIns="137160" bIns="82296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800" b="1" dirty="0">
                <a:solidFill>
                  <a:srgbClr val="1F5F6B"/>
                </a:solidFill>
                <a:latin typeface="Calibri"/>
              </a:rPr>
              <a:t>7  Build loop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build, test, analyze, fix (3 tries)</a:t>
            </a:r>
          </a:p>
        </p:txBody>
      </p:sp>
      <p:sp>
        <p:nvSpPr>
          <p:cNvPr id="13" name="Step 13"/>
          <p:cNvSpPr/>
          <p:nvPr/>
        </p:nvSpPr>
        <p:spPr>
          <a:xfrm>
            <a:off x="5056632" y="3611880"/>
            <a:ext cx="204825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137160" tIns="82296" rIns="137160" bIns="82296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800" b="1" dirty="0">
                <a:solidFill>
                  <a:srgbClr val="1F5F6B"/>
                </a:solidFill>
                <a:latin typeface="Calibri"/>
              </a:rPr>
              <a:t>8  Sonar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gate and changed-line coverage</a:t>
            </a:r>
          </a:p>
        </p:txBody>
      </p:sp>
      <p:sp>
        <p:nvSpPr>
          <p:cNvPr id="14" name="Step 14"/>
          <p:cNvSpPr/>
          <p:nvPr/>
        </p:nvSpPr>
        <p:spPr>
          <a:xfrm>
            <a:off x="7310628" y="3611880"/>
            <a:ext cx="204825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137160" tIns="82296" rIns="137160" bIns="82296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800" b="1" dirty="0">
                <a:solidFill>
                  <a:srgbClr val="1F5F6B"/>
                </a:solidFill>
                <a:latin typeface="Calibri"/>
              </a:rPr>
              <a:t>9  Security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corporate security gate</a:t>
            </a:r>
          </a:p>
        </p:txBody>
      </p:sp>
      <p:sp>
        <p:nvSpPr>
          <p:cNvPr id="15" name="Gate 15"/>
          <p:cNvSpPr/>
          <p:nvPr/>
        </p:nvSpPr>
        <p:spPr>
          <a:xfrm>
            <a:off x="8645652" y="3456432"/>
            <a:ext cx="603504" cy="310896"/>
          </a:xfrm>
          <a:prstGeom prst="roundRect">
            <a:avLst>
              <a:gd name="adj" fmla="val 30000"/>
            </a:avLst>
          </a:prstGeom>
          <a:solidFill>
            <a:srgbClr val="C77A12"/>
          </a:solidFill>
          <a:ln>
            <a:noFill/>
          </a:ln>
        </p:spPr>
        <p:txBody>
          <a:bodyPr wrap="square" lIns="18288" tIns="10973" rIns="18288" bIns="10973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  <a:latin typeface="Calibri"/>
              </a:rPr>
              <a:t>G8</a:t>
            </a:r>
          </a:p>
        </p:txBody>
      </p:sp>
      <p:sp>
        <p:nvSpPr>
          <p:cNvPr id="16" name="Step 16"/>
          <p:cNvSpPr/>
          <p:nvPr/>
        </p:nvSpPr>
        <p:spPr>
          <a:xfrm>
            <a:off x="9564624" y="3611880"/>
            <a:ext cx="2048256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137160" tIns="82296" rIns="137160" bIns="82296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800" b="1" dirty="0">
                <a:solidFill>
                  <a:srgbClr val="1F5F6B"/>
                </a:solidFill>
                <a:latin typeface="Calibri"/>
              </a:rPr>
              <a:t>10  Handover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evidence table, memory update</a:t>
            </a:r>
          </a:p>
        </p:txBody>
      </p:sp>
      <p:sp>
        <p:nvSpPr>
          <p:cNvPr id="17" name="Gate 17"/>
          <p:cNvSpPr/>
          <p:nvPr/>
        </p:nvSpPr>
        <p:spPr>
          <a:xfrm>
            <a:off x="10899648" y="3456432"/>
            <a:ext cx="603504" cy="310896"/>
          </a:xfrm>
          <a:prstGeom prst="roundRect">
            <a:avLst>
              <a:gd name="adj" fmla="val 30000"/>
            </a:avLst>
          </a:prstGeom>
          <a:solidFill>
            <a:srgbClr val="C77A12"/>
          </a:solidFill>
          <a:ln>
            <a:noFill/>
          </a:ln>
        </p:spPr>
        <p:txBody>
          <a:bodyPr wrap="square" lIns="18288" tIns="10973" rIns="18288" bIns="10973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rgbClr val="FFFFFF"/>
                </a:solidFill>
                <a:latin typeface="Calibri"/>
              </a:rPr>
              <a:t>G5</a:t>
            </a:r>
          </a:p>
        </p:txBody>
      </p:sp>
      <p:sp>
        <p:nvSpPr>
          <p:cNvPr id="18" name="Modes 18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1B2A30"/>
                </a:solidFill>
                <a:latin typeface="Calibri"/>
              </a:rPr>
              <a:t>Modes: </a:t>
            </a:r>
            <a:r>
              <a:rPr lang="en-GB" sz="1400" b="0" dirty="0">
                <a:solidFill>
                  <a:srgbClr val="1B2A30"/>
                </a:solidFill>
                <a:latin typeface="Calibri"/>
              </a:rPr>
              <a:t>Gated (default)  ·  Auto  ·  Plan  ·  Align  ·  Debug  ·  Resume.   Amber tags are stops: G2 gap map, G3 spec, G4 plan, G8 security (never waived), G5 handover.</a:t>
            </a:r>
          </a:p>
        </p:txBody>
      </p:sp>
      <p:sp>
        <p:nvSpPr>
          <p:cNvPr id="19" name="Footer 19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0973" rIns="18288" bIns="10973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5666C"/>
                </a:solidFill>
                <a:latin typeface="Calibri"/>
              </a:rPr>
              <a:t>Akzo SDD Agent — Developed and maintained by Arun RG  ·  3.4.1 release candidate  ·  corporate readiness: NOT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51560"/>
          </a:xfrm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10242B"/>
                </a:solidFill>
                <a:latin typeface="Cambria"/>
              </a:rPr>
              <a:t>Technology stack: Windows PowerShell, Git, and Markdown; nothing else to install</a:t>
            </a:r>
          </a:p>
        </p:txBody>
      </p:sp>
      <p:graphicFrame>
        <p:nvGraphicFramePr>
          <p:cNvPr id="3" name="Stack 3"/>
          <p:cNvGraphicFramePr>
            <a:graphicFrameLocks noGrp="1"/>
          </p:cNvGraphicFramePr>
          <p:nvPr/>
        </p:nvGraphicFramePr>
        <p:xfrm>
          <a:off x="548640" y="1463040"/>
          <a:ext cx="11064240" cy="3511296"/>
        </p:xfrm>
        <a:graphic>
          <a:graphicData uri="http://schemas.openxmlformats.org/drawingml/2006/table">
            <a:tbl>
              <a:tblPr firstRow="1" bandRow="1"/>
              <a:tblGrid>
                <a:gridCol w="2103120"/>
                <a:gridCol w="5394960"/>
                <a:gridCol w="3566160"/>
              </a:tblGrid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1024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1024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1024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GitHub Copilot custom agent: Markdown with YAML front matter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copilot/agents/akzo-master-sdd.agent.md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Helper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Windows PowerShell 5.1, JSON output, 22 commands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copilot/modules/investigate/scripts/akzo.ps1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Documents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.NET ZIP and XML for Word and Excel; optional pdftotext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inside the helper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Repository knowledge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Git file lists and blob ids; regex symbols for C#, TS/JS, Python, Java/Kotlin, Go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inside the helper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JSON and TSV files per repository under the user profile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%USERPROFILE%\.akzo-agent\maps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Quality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Sonar Web API (read-only GET, https), Cobertura and LCOV coverage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sonar and coverage commands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Installer and release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PowerShell and Windows Forms; SHA-256 manifests, backups, rollback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scripts/install.ps1, make-release.ps1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PowerShell harness in a temporary profile; C#, Angular, Python fixtures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>
                          <a:solidFill>
                            <a:srgbClr val="1B2A30"/>
                          </a:solidFill>
                          <a:latin typeface="Calibri"/>
                        </a:rPr>
                        <a:t>scripts/test.ps1, test-gui.ps1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</a:tr>
            </a:tbl>
          </a:graphicData>
        </a:graphic>
      </p:graphicFrame>
      <p:sp>
        <p:nvSpPr>
          <p:cNvPr id="4" name="Note 4"/>
          <p:cNvSpPr txBox="1"/>
          <p:nvPr/>
        </p:nvSpPr>
        <p:spPr>
          <a:xfrm>
            <a:off x="548640" y="5084064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dirty="0">
                <a:solidFill>
                  <a:srgbClr val="55666C"/>
                </a:solidFill>
                <a:latin typeface="Calibri"/>
              </a:rPr>
              <a:t>No runtime dependency is bundled. Tree-sitter, Continue, Aider, and Semantic Kernel were studied as design references only.</a:t>
            </a:r>
          </a:p>
        </p:txBody>
      </p:sp>
      <p:sp>
        <p:nvSpPr>
          <p:cNvPr id="5" name="Footer 5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0973" rIns="18288" bIns="10973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5666C"/>
                </a:solidFill>
                <a:latin typeface="Calibri"/>
              </a:rPr>
              <a:t>Akzo SDD Agent — Developed and maintained by Arun RG  ·  3.4.1 release candidate  ·  corporate readiness: NOT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51560"/>
          </a:xfrm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10242B"/>
                </a:solidFill>
                <a:latin typeface="Cambria"/>
              </a:rPr>
              <a:t>Repository memory learns once and refreshes only what changed</a:t>
            </a:r>
          </a:p>
        </p:txBody>
      </p:sp>
      <p:sp>
        <p:nvSpPr>
          <p:cNvPr id="3" name="Keeps 3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228600" tIns="137160" rIns="22860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2000" b="1" dirty="0">
                <a:solidFill>
                  <a:srgbClr val="1F5F6B"/>
                </a:solidFill>
                <a:latin typeface="Calibri"/>
              </a:rPr>
              <a:t>What it keeps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Architecture: languages, frameworks from manifests, inferred patterns, files by role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Symbols: types, methods, functions, routes, imports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Verified facts: patterns, reusable components, validation and testing conventions, integrations, decisions, commands, pitfalls</a:t>
            </a:r>
          </a:p>
          <a:p>
            <a:pPr algn="l"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Each fact cites path:line and the content fingerprint of its evidence</a:t>
            </a:r>
          </a:p>
        </p:txBody>
      </p:sp>
      <p:sp>
        <p:nvSpPr>
          <p:cNvPr id="4" name="Truth 4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228600" tIns="137160" rIns="22860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2000" b="1" dirty="0">
                <a:solidFill>
                  <a:srgbClr val="1F5F6B"/>
                </a:solidFill>
                <a:latin typeface="Calibri"/>
              </a:rPr>
              <a:t>How it stays true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Every file is fingerprinted by content: edits, staged and untracked files, deletes, and renames are noticed without a commit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Only changed files are re-read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A fact goes stale when its evidence changes, and expires when the file is gone or retention passes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Ranked retrieval with compact, balanced, or deep budgets</a:t>
            </a:r>
          </a:p>
          <a:p>
            <a:pPr algn="l"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Unreadable files are set aside and rebuilt; secrets and instruction-like text are refused</a:t>
            </a:r>
          </a:p>
        </p:txBody>
      </p:sp>
      <p:sp>
        <p:nvSpPr>
          <p:cNvPr id="5" name="Footer 5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0973" rIns="18288" bIns="10973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5666C"/>
                </a:solidFill>
                <a:latin typeface="Calibri"/>
              </a:rPr>
              <a:t>Akzo SDD Agent — Developed and maintained by Arun RG  ·  3.4.1 release candidate  ·  corporate readiness: NOT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51560"/>
          </a:xfrm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10242B"/>
                </a:solidFill>
                <a:latin typeface="Cambria"/>
              </a:rPr>
              <a:t>Auto Mode works alone inside a scope you authorize</a:t>
            </a:r>
          </a:p>
        </p:txBody>
      </p:sp>
      <p:sp>
        <p:nvSpPr>
          <p:cNvPr id="3" name="Runs 3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228600" tIns="137160" rIns="22860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2000" b="1" dirty="0">
                <a:solidFill>
                  <a:srgbClr val="1E7B46"/>
                </a:solidFill>
                <a:latin typeface="Calibri"/>
              </a:rPr>
              <a:t>Runs without questions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Architecture analysis, gap map, spec, plan, and consistency check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Test-first implementation and the build, test, analyze, fix loop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Sonar validation when configured, memory update, security gate, final report</a:t>
            </a:r>
          </a:p>
          <a:p>
            <a:pPr algn="l"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The authorization record (who, when, scope) is written into the plan</a:t>
            </a:r>
          </a:p>
        </p:txBody>
      </p:sp>
      <p:sp>
        <p:nvSpPr>
          <p:cNvPr id="4" name="Stops 4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228600" tIns="137160" rIns="228600" bIns="13716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2000" b="1" dirty="0">
                <a:solidFill>
                  <a:srgbClr val="B42318"/>
                </a:solidFill>
                <a:latin typeface="Calibri"/>
              </a:rPr>
              <a:t>Always stops for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Business ambiguity that changes behavior, data, or a contract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Destructive operations, permission or credential changes, production deployment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New or upgraded dependencies and significant architecture changes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Anything outside the authorized scope; any commit or push</a:t>
            </a:r>
          </a:p>
          <a:p>
            <a:pPr algn="l"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IDE prompts and organizational policy are never bypassed</a:t>
            </a:r>
          </a:p>
        </p:txBody>
      </p:sp>
      <p:sp>
        <p:nvSpPr>
          <p:cNvPr id="5" name="Footer 5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0973" rIns="18288" bIns="10973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5666C"/>
                </a:solidFill>
                <a:latin typeface="Calibri"/>
              </a:rPr>
              <a:t>Akzo SDD Agent — Developed and maintained by Arun RG  ·  3.4.1 release candidate  ·  corporate readiness: NOT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51560"/>
          </a:xfrm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10242B"/>
                </a:solidFill>
                <a:latin typeface="Cambria"/>
              </a:rPr>
              <a:t>Corporate security gate G8 is mandatory and never waived</a:t>
            </a:r>
          </a:p>
        </p:txBody>
      </p:sp>
      <p:sp>
        <p:nvSpPr>
          <p:cNvPr id="3" name="G8 3"/>
          <p:cNvSpPr/>
          <p:nvPr/>
        </p:nvSpPr>
        <p:spPr>
          <a:xfrm>
            <a:off x="548640" y="155448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201168" tIns="120701" rIns="201168" bIns="120701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2000" b="1" dirty="0">
                <a:solidFill>
                  <a:srgbClr val="1F5F6B"/>
                </a:solidFill>
                <a:latin typeface="Calibri"/>
              </a:rPr>
              <a:t>Before any work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500" b="0" dirty="0">
                <a:solidFill>
                  <a:srgbClr val="1B2A30"/>
                </a:solidFill>
                <a:latin typeface="Calibri"/>
              </a:rPr>
              <a:t>No indexing, extraction, or output until a policy or your recorded statement authorizes the repository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500" b="0" dirty="0">
                <a:solidFill>
                  <a:srgbClr val="1B2A30"/>
                </a:solidFill>
                <a:latin typeface="Calibri"/>
              </a:rPr>
              <a:t>Fail closed: a broken or forbidding policy blocks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500" b="0" dirty="0">
                <a:solidFill>
                  <a:srgbClr val="1B2A30"/>
                </a:solidFill>
                <a:latin typeface="Calibri"/>
              </a:rPr>
              <a:t>Restricted data needs an administrator policy</a:t>
            </a:r>
          </a:p>
        </p:txBody>
      </p:sp>
      <p:sp>
        <p:nvSpPr>
          <p:cNvPr id="4" name="G8 4"/>
          <p:cNvSpPr/>
          <p:nvPr/>
        </p:nvSpPr>
        <p:spPr>
          <a:xfrm>
            <a:off x="4297680" y="155448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201168" tIns="120701" rIns="201168" bIns="120701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2000" b="1" dirty="0">
                <a:solidFill>
                  <a:srgbClr val="1F5F6B"/>
                </a:solidFill>
                <a:latin typeface="Calibri"/>
              </a:rPr>
              <a:t>While working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500" b="0" dirty="0">
                <a:solidFill>
                  <a:srgbClr val="1B2A30"/>
                </a:solidFill>
                <a:latin typeface="Calibri"/>
              </a:rPr>
              <a:t>Command guard: ALLOW, NEEDS_APPROVAL, or BLOCK; a blocked command is never run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500" b="0" dirty="0">
                <a:solidFill>
                  <a:srgbClr val="1B2A30"/>
                </a:solidFill>
                <a:latin typeface="Calibri"/>
              </a:rPr>
              <a:t>Secrets redacted; memory folders owner-only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500" b="0" dirty="0">
                <a:solidFill>
                  <a:srgbClr val="1B2A30"/>
                </a:solidFill>
                <a:latin typeface="Calibri"/>
              </a:rPr>
              <a:t>Network: read-only Sonar over https to allowed hosts</a:t>
            </a:r>
          </a:p>
        </p:txBody>
      </p:sp>
      <p:sp>
        <p:nvSpPr>
          <p:cNvPr id="5" name="G8 5"/>
          <p:cNvSpPr/>
          <p:nvPr/>
        </p:nvSpPr>
        <p:spPr>
          <a:xfrm>
            <a:off x="8046720" y="1554480"/>
            <a:ext cx="356616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201168" tIns="120701" rIns="201168" bIns="120701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2000" b="1" dirty="0">
                <a:solidFill>
                  <a:srgbClr val="1F5F6B"/>
                </a:solidFill>
                <a:latin typeface="Calibri"/>
              </a:rPr>
              <a:t>Before handover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500" b="0" dirty="0">
                <a:solidFill>
                  <a:srgbClr val="1B2A30"/>
                </a:solidFill>
                <a:latin typeface="Calibri"/>
              </a:rPr>
              <a:t>13 controls, each PASS, FAIL, NOT VERIFIED, or NOT APPLICABLE with evidence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500" b="0" dirty="0">
                <a:solidFill>
                  <a:srgbClr val="1B2A30"/>
                </a:solidFill>
                <a:latin typeface="Calibri"/>
              </a:rPr>
              <a:t>FAIL blocks; NOT VERIFIED means concerns; only PASS allows DONE</a:t>
            </a:r>
          </a:p>
          <a:p>
            <a:pPr algn="l" marL="285750" indent="-285750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GB" sz="1500" b="0" dirty="0">
                <a:solidFill>
                  <a:srgbClr val="1B2A30"/>
                </a:solidFill>
                <a:latin typeface="Calibri"/>
              </a:rPr>
              <a:t>Report: corporate-security-report.html</a:t>
            </a:r>
          </a:p>
        </p:txBody>
      </p:sp>
      <p:sp>
        <p:nvSpPr>
          <p:cNvPr id="6" name="Note 6"/>
          <p:cNvSpPr txBox="1"/>
          <p:nvPr/>
        </p:nvSpPr>
        <p:spPr>
          <a:xfrm>
            <a:off x="548640" y="5742432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C77A12"/>
                </a:solidFill>
                <a:latin typeface="Calibri"/>
              </a:rPr>
              <a:t>Automated verification is never corporate approval: a developer statement is reported as NOT VERIFIED.</a:t>
            </a:r>
          </a:p>
        </p:txBody>
      </p:sp>
      <p:sp>
        <p:nvSpPr>
          <p:cNvPr id="7" name="Footer 7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0973" rIns="18288" bIns="10973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5666C"/>
                </a:solidFill>
                <a:latin typeface="Calibri"/>
              </a:rPr>
              <a:t>Akzo SDD Agent — Developed and maintained by Arun RG  ·  3.4.1 release candidate  ·  corporate readiness: NOT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51560"/>
          </a:xfrm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10242B"/>
                </a:solidFill>
                <a:latin typeface="Cambria"/>
              </a:rPr>
              <a:t>Automated stage checks: a red stage blocks the next one</a:t>
            </a:r>
          </a:p>
        </p:txBody>
      </p:sp>
      <p:sp>
        <p:nvSpPr>
          <p:cNvPr id="3" name="Stage 3"/>
          <p:cNvSpPr/>
          <p:nvPr/>
        </p:nvSpPr>
        <p:spPr>
          <a:xfrm>
            <a:off x="548640" y="150876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0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baseline</a:t>
            </a:r>
          </a:p>
        </p:txBody>
      </p:sp>
      <p:sp>
        <p:nvSpPr>
          <p:cNvPr id="4" name="Stage 4"/>
          <p:cNvSpPr/>
          <p:nvPr/>
        </p:nvSpPr>
        <p:spPr>
          <a:xfrm>
            <a:off x="2148840" y="150876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2a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fixes applied</a:t>
            </a:r>
          </a:p>
        </p:txBody>
      </p:sp>
      <p:sp>
        <p:nvSpPr>
          <p:cNvPr id="5" name="Stage 5"/>
          <p:cNvSpPr/>
          <p:nvPr/>
        </p:nvSpPr>
        <p:spPr>
          <a:xfrm>
            <a:off x="3749040" y="150876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F9DEDC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B42318"/>
                </a:solidFill>
                <a:latin typeface="Calibri"/>
              </a:rPr>
              <a:t>2b  FAIL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new tests</a:t>
            </a:r>
          </a:p>
        </p:txBody>
      </p:sp>
      <p:sp>
        <p:nvSpPr>
          <p:cNvPr id="6" name="Stage 6"/>
          <p:cNvSpPr/>
          <p:nvPr/>
        </p:nvSpPr>
        <p:spPr>
          <a:xfrm>
            <a:off x="5349240" y="150876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F9DEDC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B42318"/>
                </a:solidFill>
                <a:latin typeface="Calibri"/>
              </a:rPr>
              <a:t>2c  FAIL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tests corrected</a:t>
            </a:r>
          </a:p>
        </p:txBody>
      </p:sp>
      <p:sp>
        <p:nvSpPr>
          <p:cNvPr id="7" name="Stage 7"/>
          <p:cNvSpPr/>
          <p:nvPr/>
        </p:nvSpPr>
        <p:spPr>
          <a:xfrm>
            <a:off x="6949440" y="150876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2d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green again</a:t>
            </a:r>
          </a:p>
        </p:txBody>
      </p:sp>
      <p:sp>
        <p:nvSpPr>
          <p:cNvPr id="8" name="Stage 8"/>
          <p:cNvSpPr/>
          <p:nvPr/>
        </p:nvSpPr>
        <p:spPr>
          <a:xfrm>
            <a:off x="8549640" y="150876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3a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speed edits</a:t>
            </a:r>
          </a:p>
        </p:txBody>
      </p:sp>
      <p:sp>
        <p:nvSpPr>
          <p:cNvPr id="9" name="Stage 9"/>
          <p:cNvSpPr/>
          <p:nvPr/>
        </p:nvSpPr>
        <p:spPr>
          <a:xfrm>
            <a:off x="10149840" y="150876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3b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speed + suite</a:t>
            </a:r>
          </a:p>
        </p:txBody>
      </p:sp>
      <p:sp>
        <p:nvSpPr>
          <p:cNvPr id="10" name="Stage 10"/>
          <p:cNvSpPr/>
          <p:nvPr/>
        </p:nvSpPr>
        <p:spPr>
          <a:xfrm>
            <a:off x="548640" y="237744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3c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micro-edits</a:t>
            </a:r>
          </a:p>
        </p:txBody>
      </p:sp>
      <p:sp>
        <p:nvSpPr>
          <p:cNvPr id="11" name="Stage 11"/>
          <p:cNvSpPr/>
          <p:nvPr/>
        </p:nvSpPr>
        <p:spPr>
          <a:xfrm>
            <a:off x="2148840" y="237744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4a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version 3.4.1</a:t>
            </a:r>
          </a:p>
        </p:txBody>
      </p:sp>
      <p:sp>
        <p:nvSpPr>
          <p:cNvPr id="12" name="Stage 12"/>
          <p:cNvSpPr/>
          <p:nvPr/>
        </p:nvSpPr>
        <p:spPr>
          <a:xfrm>
            <a:off x="3749040" y="237744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4b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docs + suite</a:t>
            </a:r>
          </a:p>
        </p:txBody>
      </p:sp>
      <p:sp>
        <p:nvSpPr>
          <p:cNvPr id="13" name="Stage 13"/>
          <p:cNvSpPr/>
          <p:nvPr/>
        </p:nvSpPr>
        <p:spPr>
          <a:xfrm>
            <a:off x="5349240" y="237744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4c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window tests</a:t>
            </a:r>
          </a:p>
        </p:txBody>
      </p:sp>
      <p:sp>
        <p:nvSpPr>
          <p:cNvPr id="14" name="Stage 14"/>
          <p:cNvSpPr/>
          <p:nvPr/>
        </p:nvSpPr>
        <p:spPr>
          <a:xfrm>
            <a:off x="6949440" y="237744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4d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final gate</a:t>
            </a:r>
          </a:p>
        </p:txBody>
      </p:sp>
      <p:sp>
        <p:nvSpPr>
          <p:cNvPr id="15" name="Stage 15"/>
          <p:cNvSpPr/>
          <p:nvPr/>
        </p:nvSpPr>
        <p:spPr>
          <a:xfrm>
            <a:off x="8549640" y="237744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4e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release check</a:t>
            </a:r>
          </a:p>
        </p:txBody>
      </p:sp>
      <p:sp>
        <p:nvSpPr>
          <p:cNvPr id="16" name="Stage 16"/>
          <p:cNvSpPr/>
          <p:nvPr/>
        </p:nvSpPr>
        <p:spPr>
          <a:xfrm>
            <a:off x="10149840" y="237744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5a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docs: RC + limit</a:t>
            </a:r>
          </a:p>
        </p:txBody>
      </p:sp>
      <p:sp>
        <p:nvSpPr>
          <p:cNvPr id="17" name="Stage 17"/>
          <p:cNvSpPr/>
          <p:nvPr/>
        </p:nvSpPr>
        <p:spPr>
          <a:xfrm>
            <a:off x="548640" y="324612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5b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ab-bench added</a:t>
            </a:r>
          </a:p>
        </p:txBody>
      </p:sp>
      <p:sp>
        <p:nvSpPr>
          <p:cNvPr id="18" name="Stage 18"/>
          <p:cNvSpPr/>
          <p:nvPr/>
        </p:nvSpPr>
        <p:spPr>
          <a:xfrm>
            <a:off x="2148840" y="324612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5b2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ab-bench run</a:t>
            </a:r>
          </a:p>
        </p:txBody>
      </p:sp>
      <p:sp>
        <p:nvSpPr>
          <p:cNvPr id="19" name="Stage 19"/>
          <p:cNvSpPr/>
          <p:nvPr/>
        </p:nvSpPr>
        <p:spPr>
          <a:xfrm>
            <a:off x="3749040" y="324612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5c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final gate</a:t>
            </a:r>
          </a:p>
        </p:txBody>
      </p:sp>
      <p:sp>
        <p:nvSpPr>
          <p:cNvPr id="20" name="Stage 20"/>
          <p:cNvSpPr/>
          <p:nvPr/>
        </p:nvSpPr>
        <p:spPr>
          <a:xfrm>
            <a:off x="5349240" y="324612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5d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window tests</a:t>
            </a:r>
          </a:p>
        </p:txBody>
      </p:sp>
      <p:sp>
        <p:nvSpPr>
          <p:cNvPr id="21" name="Stage 21"/>
          <p:cNvSpPr/>
          <p:nvPr/>
        </p:nvSpPr>
        <p:spPr>
          <a:xfrm>
            <a:off x="6949440" y="3246120"/>
            <a:ext cx="1463040" cy="731520"/>
          </a:xfrm>
          <a:prstGeom prst="roundRect">
            <a:avLst>
              <a:gd name="adj" fmla="val 6000"/>
            </a:avLst>
          </a:prstGeom>
          <a:solidFill>
            <a:srgbClr val="DDF1E4"/>
          </a:solidFill>
          <a:ln>
            <a:noFill/>
          </a:ln>
        </p:spPr>
        <p:txBody>
          <a:bodyPr wrap="square" lIns="91440" tIns="54864" rIns="91440" bIns="54864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400" b="1" dirty="0">
                <a:solidFill>
                  <a:srgbClr val="1E7B46"/>
                </a:solidFill>
                <a:latin typeface="Calibri"/>
              </a:rPr>
              <a:t>5e  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1B2A30"/>
                </a:solidFill>
                <a:latin typeface="Calibri"/>
              </a:rPr>
              <a:t>RC validated</a:t>
            </a:r>
          </a:p>
        </p:txBody>
      </p:sp>
      <p:sp>
        <p:nvSpPr>
          <p:cNvPr id="22" name="Checks 22"/>
          <p:cNvSpPr txBox="1"/>
          <p:nvPr/>
        </p:nvSpPr>
        <p:spPr>
          <a:xfrm>
            <a:off x="548640" y="4251960"/>
            <a:ext cx="11064240" cy="19202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pPr algn="l"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GB" sz="1500" b="1" dirty="0">
                <a:solidFill>
                  <a:srgbClr val="1B2A30"/>
                </a:solidFill>
                <a:latin typeface="Calibri"/>
              </a:rPr>
              <a:t>Build: </a:t>
            </a:r>
            <a:r>
              <a:rPr lang="en-GB" sz="1500" b="0" dirty="0">
                <a:solidFill>
                  <a:srgbClr val="1B2A30"/>
                </a:solidFill>
                <a:latin typeface="Calibri"/>
              </a:rPr>
              <a:t>a strict parse of every shipped script (any syntax error fails the stage). There is no compiler.</a:t>
            </a:r>
          </a:p>
          <a:p>
            <a:pPr algn="l"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GB" sz="1500" b="1" dirty="0">
                <a:solidFill>
                  <a:srgbClr val="1B2A30"/>
                </a:solidFill>
                <a:latin typeface="Calibri"/>
              </a:rPr>
              <a:t>Smoke: </a:t>
            </a:r>
            <a:r>
              <a:rPr lang="en-GB" sz="1500" b="0" dirty="0">
                <a:solidFill>
                  <a:srgbClr val="1B2A30"/>
                </a:solidFill>
                <a:latin typeface="Calibri"/>
              </a:rPr>
              <a:t>policy, authorize, discover, context, guard, and scan on a throwaway repository.</a:t>
            </a:r>
          </a:p>
          <a:p>
            <a:pPr algn="l"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GB" sz="1500" b="1" dirty="0">
                <a:solidFill>
                  <a:srgbClr val="1B2A30"/>
                </a:solidFill>
                <a:latin typeface="Calibri"/>
              </a:rPr>
              <a:t>Full suite: </a:t>
            </a:r>
            <a:r>
              <a:rPr lang="en-GB" sz="1500" b="0" dirty="0">
                <a:solidFill>
                  <a:srgbClr val="1B2A30"/>
                </a:solidFill>
                <a:latin typeface="Calibri"/>
              </a:rPr>
              <a:t>264 checks on C#, Angular, and Python fixtures; window tests 11; release validation 13 steps.</a:t>
            </a:r>
          </a:p>
          <a:p>
            <a:pPr algn="l"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GB" sz="1500" b="1" dirty="0">
                <a:solidFill>
                  <a:srgbClr val="1B2A30"/>
                </a:solidFill>
                <a:latin typeface="Calibri"/>
              </a:rPr>
              <a:t>Results: </a:t>
            </a:r>
            <a:r>
              <a:rPr lang="en-GB" sz="1500" b="0" dirty="0">
                <a:solidFill>
                  <a:srgbClr val="1B2A30"/>
                </a:solidFill>
                <a:latin typeface="Calibri"/>
              </a:rPr>
              <a:t>logged automatically. 17 green, 2 red: the red stages were mistakes in my own new tests, fixed before continuing.</a:t>
            </a:r>
          </a:p>
        </p:txBody>
      </p:sp>
      <p:sp>
        <p:nvSpPr>
          <p:cNvPr id="23" name="Footer 23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0973" rIns="18288" bIns="10973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5666C"/>
                </a:solidFill>
                <a:latin typeface="Calibri"/>
              </a:rPr>
              <a:t>Akzo SDD Agent — Developed and maintained by Arun RG  ·  3.4.1 release candidate  ·  corporate readiness: NOT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51560"/>
          </a:xfrm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10242B"/>
                </a:solidFill>
                <a:latin typeface="Cambria"/>
              </a:rPr>
              <a:t>Three security defects found and fixed before release</a:t>
            </a:r>
          </a:p>
        </p:txBody>
      </p:sp>
      <p:graphicFrame>
        <p:nvGraphicFramePr>
          <p:cNvPr id="3" name="Defects 3"/>
          <p:cNvGraphicFramePr>
            <a:graphicFrameLocks noGrp="1"/>
          </p:cNvGraphicFramePr>
          <p:nvPr/>
        </p:nvGraphicFramePr>
        <p:xfrm>
          <a:off x="548640" y="1508760"/>
          <a:ext cx="11064240" cy="2170176"/>
        </p:xfrm>
        <a:graphic>
          <a:graphicData uri="http://schemas.openxmlformats.org/drawingml/2006/table">
            <a:tbl>
              <a:tblPr firstRow="1" bandRow="1"/>
              <a:tblGrid>
                <a:gridCol w="4114800"/>
                <a:gridCol w="3383280"/>
                <a:gridCol w="3566160"/>
              </a:tblGrid>
              <a:tr h="3444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Defect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1024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How it was confirmed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1024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Fix and test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10242B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Path traversal: a work-item id such as ..\.. reached folders outside the task folder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Reproduced: guard wrote a log file outside the tasks folder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Ids validated everywhere; tested on four commands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Sonar token could go over plain http and follow a redirect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Read from the code; redirect re-checked with a local stand-in server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https only (localhost exempt), no redirects; tested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Memory poisoning: instruction-like text from a hostile document stored as a verified fact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Read from the code: any text was accepted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Instruction-like facts refused; tested both ways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Notes 4"/>
          <p:cNvSpPr txBox="1"/>
          <p:nvPr/>
        </p:nvSpPr>
        <p:spPr>
          <a:xfrm>
            <a:off x="548640" y="3861816"/>
            <a:ext cx="11064240" cy="12801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pPr algn="l" marL="285750" indent="-28575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GB" sz="1500" b="0" dirty="0">
                <a:solidFill>
                  <a:srgbClr val="1B2A30"/>
                </a:solidFill>
                <a:latin typeface="Calibri"/>
              </a:rPr>
              <a:t>Checked, not reproduced: slow-regex behavior of the symbol rules on five hostile line shapes (at most 9 ms each). Other shapes: NOT VERIFIED.</a:t>
            </a:r>
          </a:p>
          <a:p>
            <a:pPr algn="l"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GB" sz="1500" b="0" dirty="0">
                <a:solidFill>
                  <a:srgbClr val="1B2A30"/>
                </a:solidFill>
                <a:latin typeface="Calibri"/>
              </a:rPr>
              <a:t>The 3.4.0 package contained these defects, was never distributed, and was deleted; the history stays in the CHANGELOG and the security report.</a:t>
            </a:r>
          </a:p>
        </p:txBody>
      </p:sp>
      <p:sp>
        <p:nvSpPr>
          <p:cNvPr id="5" name="Footer 5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0973" rIns="18288" bIns="10973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5666C"/>
                </a:solidFill>
                <a:latin typeface="Calibri"/>
              </a:rPr>
              <a:t>Akzo SDD Agent — Developed and maintained by Arun RG  ·  3.4.1 release candidate  ·  corporate readiness: NOT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51560"/>
          </a:xfrm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10242B"/>
                </a:solidFill>
                <a:latin typeface="Cambria"/>
              </a:rPr>
              <a:t>Measured performance: faster than 3.4.0, still slower than 3.3.0</a:t>
            </a:r>
          </a:p>
        </p:txBody>
      </p:sp>
      <p:sp>
        <p:nvSpPr>
          <p:cNvPr id="3" name="Bar Cold task 3.3.0 3"/>
          <p:cNvSpPr/>
          <p:nvPr/>
        </p:nvSpPr>
        <p:spPr>
          <a:xfrm>
            <a:off x="731520" y="3727355"/>
            <a:ext cx="658368" cy="1347565"/>
          </a:xfrm>
          <a:prstGeom prst="rect">
            <a:avLst/>
          </a:prstGeom>
          <a:solidFill>
            <a:srgbClr val="8FA3A8"/>
          </a:solidFill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endParaRPr lang="en-GB"/>
          </a:p>
        </p:txBody>
      </p:sp>
      <p:sp>
        <p:nvSpPr>
          <p:cNvPr id="4" name="Value 4"/>
          <p:cNvSpPr txBox="1"/>
          <p:nvPr/>
        </p:nvSpPr>
        <p:spPr>
          <a:xfrm>
            <a:off x="676656" y="3416459"/>
            <a:ext cx="76809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1B2A30"/>
                </a:solidFill>
                <a:latin typeface="Calibri"/>
              </a:rPr>
              <a:t>1.68 s</a:t>
            </a:r>
          </a:p>
        </p:txBody>
      </p:sp>
      <p:sp>
        <p:nvSpPr>
          <p:cNvPr id="5" name="Version 5"/>
          <p:cNvSpPr txBox="1"/>
          <p:nvPr/>
        </p:nvSpPr>
        <p:spPr>
          <a:xfrm>
            <a:off x="676656" y="5111496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55666C"/>
                </a:solidFill>
                <a:latin typeface="Calibri"/>
              </a:rPr>
              <a:t>3.3.0</a:t>
            </a:r>
          </a:p>
        </p:txBody>
      </p:sp>
      <p:sp>
        <p:nvSpPr>
          <p:cNvPr id="6" name="Bar Cold task 3.4.0 6"/>
          <p:cNvSpPr/>
          <p:nvPr/>
        </p:nvSpPr>
        <p:spPr>
          <a:xfrm>
            <a:off x="1517904" y="2331720"/>
            <a:ext cx="658368" cy="2743200"/>
          </a:xfrm>
          <a:prstGeom prst="rect">
            <a:avLst/>
          </a:prstGeom>
          <a:solidFill>
            <a:srgbClr val="C9822B"/>
          </a:solidFill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endParaRPr lang="en-GB"/>
          </a:p>
        </p:txBody>
      </p:sp>
      <p:sp>
        <p:nvSpPr>
          <p:cNvPr id="7" name="Value 7"/>
          <p:cNvSpPr txBox="1"/>
          <p:nvPr/>
        </p:nvSpPr>
        <p:spPr>
          <a:xfrm>
            <a:off x="1463040" y="2020824"/>
            <a:ext cx="76809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1B2A30"/>
                </a:solidFill>
                <a:latin typeface="Calibri"/>
              </a:rPr>
              <a:t>3.42 s</a:t>
            </a:r>
          </a:p>
        </p:txBody>
      </p:sp>
      <p:sp>
        <p:nvSpPr>
          <p:cNvPr id="8" name="Version 8"/>
          <p:cNvSpPr txBox="1"/>
          <p:nvPr/>
        </p:nvSpPr>
        <p:spPr>
          <a:xfrm>
            <a:off x="1463040" y="5111496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55666C"/>
                </a:solidFill>
                <a:latin typeface="Calibri"/>
              </a:rPr>
              <a:t>3.4.0</a:t>
            </a:r>
          </a:p>
        </p:txBody>
      </p:sp>
      <p:sp>
        <p:nvSpPr>
          <p:cNvPr id="9" name="Bar Cold task 3.4.1 9"/>
          <p:cNvSpPr/>
          <p:nvPr/>
        </p:nvSpPr>
        <p:spPr>
          <a:xfrm>
            <a:off x="2304288" y="2608924"/>
            <a:ext cx="658368" cy="2465996"/>
          </a:xfrm>
          <a:prstGeom prst="rect">
            <a:avLst/>
          </a:prstGeom>
          <a:solidFill>
            <a:srgbClr val="1F5F6B"/>
          </a:solidFill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endParaRPr lang="en-GB"/>
          </a:p>
        </p:txBody>
      </p:sp>
      <p:sp>
        <p:nvSpPr>
          <p:cNvPr id="10" name="Value 10"/>
          <p:cNvSpPr txBox="1"/>
          <p:nvPr/>
        </p:nvSpPr>
        <p:spPr>
          <a:xfrm>
            <a:off x="2249424" y="2298028"/>
            <a:ext cx="76809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1B2A30"/>
                </a:solidFill>
                <a:latin typeface="Calibri"/>
              </a:rPr>
              <a:t>3.08 s</a:t>
            </a:r>
          </a:p>
        </p:txBody>
      </p:sp>
      <p:sp>
        <p:nvSpPr>
          <p:cNvPr id="11" name="Version 11"/>
          <p:cNvSpPr txBox="1"/>
          <p:nvPr/>
        </p:nvSpPr>
        <p:spPr>
          <a:xfrm>
            <a:off x="2249424" y="5111496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55666C"/>
                </a:solidFill>
                <a:latin typeface="Calibri"/>
              </a:rPr>
              <a:t>3.4.1</a:t>
            </a:r>
          </a:p>
        </p:txBody>
      </p:sp>
      <p:sp>
        <p:nvSpPr>
          <p:cNvPr id="12" name="Group 12"/>
          <p:cNvSpPr txBox="1"/>
          <p:nvPr/>
        </p:nvSpPr>
        <p:spPr>
          <a:xfrm>
            <a:off x="731520" y="5385816"/>
            <a:ext cx="22311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1B2A30"/>
                </a:solidFill>
                <a:latin typeface="Calibri"/>
              </a:rPr>
              <a:t>Cold task</a:t>
            </a:r>
          </a:p>
        </p:txBody>
      </p:sp>
      <p:sp>
        <p:nvSpPr>
          <p:cNvPr id="13" name="Bar Warm task 3.3.0 13"/>
          <p:cNvSpPr/>
          <p:nvPr/>
        </p:nvSpPr>
        <p:spPr>
          <a:xfrm>
            <a:off x="3648456" y="3885986"/>
            <a:ext cx="658368" cy="1188934"/>
          </a:xfrm>
          <a:prstGeom prst="rect">
            <a:avLst/>
          </a:prstGeom>
          <a:solidFill>
            <a:srgbClr val="8FA3A8"/>
          </a:solidFill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endParaRPr lang="en-GB"/>
          </a:p>
        </p:txBody>
      </p:sp>
      <p:sp>
        <p:nvSpPr>
          <p:cNvPr id="14" name="Value 14"/>
          <p:cNvSpPr txBox="1"/>
          <p:nvPr/>
        </p:nvSpPr>
        <p:spPr>
          <a:xfrm>
            <a:off x="3593592" y="3575090"/>
            <a:ext cx="76809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1B2A30"/>
                </a:solidFill>
                <a:latin typeface="Calibri"/>
              </a:rPr>
              <a:t>1.48 s</a:t>
            </a:r>
          </a:p>
        </p:txBody>
      </p:sp>
      <p:sp>
        <p:nvSpPr>
          <p:cNvPr id="15" name="Version 15"/>
          <p:cNvSpPr txBox="1"/>
          <p:nvPr/>
        </p:nvSpPr>
        <p:spPr>
          <a:xfrm>
            <a:off x="3593592" y="5111496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55666C"/>
                </a:solidFill>
                <a:latin typeface="Calibri"/>
              </a:rPr>
              <a:t>3.3.0</a:t>
            </a:r>
          </a:p>
        </p:txBody>
      </p:sp>
      <p:sp>
        <p:nvSpPr>
          <p:cNvPr id="16" name="Bar Warm task 3.4.0 16"/>
          <p:cNvSpPr/>
          <p:nvPr/>
        </p:nvSpPr>
        <p:spPr>
          <a:xfrm>
            <a:off x="4434840" y="3273093"/>
            <a:ext cx="658368" cy="1801827"/>
          </a:xfrm>
          <a:prstGeom prst="rect">
            <a:avLst/>
          </a:prstGeom>
          <a:solidFill>
            <a:srgbClr val="C9822B"/>
          </a:solidFill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endParaRPr lang="en-GB"/>
          </a:p>
        </p:txBody>
      </p:sp>
      <p:sp>
        <p:nvSpPr>
          <p:cNvPr id="17" name="Value 17"/>
          <p:cNvSpPr txBox="1"/>
          <p:nvPr/>
        </p:nvSpPr>
        <p:spPr>
          <a:xfrm>
            <a:off x="4379976" y="2962197"/>
            <a:ext cx="76809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1B2A30"/>
                </a:solidFill>
                <a:latin typeface="Calibri"/>
              </a:rPr>
              <a:t>2.25 s</a:t>
            </a:r>
          </a:p>
        </p:txBody>
      </p:sp>
      <p:sp>
        <p:nvSpPr>
          <p:cNvPr id="18" name="Version 18"/>
          <p:cNvSpPr txBox="1"/>
          <p:nvPr/>
        </p:nvSpPr>
        <p:spPr>
          <a:xfrm>
            <a:off x="4379976" y="5111496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55666C"/>
                </a:solidFill>
                <a:latin typeface="Calibri"/>
              </a:rPr>
              <a:t>3.4.0</a:t>
            </a:r>
          </a:p>
        </p:txBody>
      </p:sp>
      <p:sp>
        <p:nvSpPr>
          <p:cNvPr id="19" name="Bar Warm task 3.4.1 19"/>
          <p:cNvSpPr/>
          <p:nvPr/>
        </p:nvSpPr>
        <p:spPr>
          <a:xfrm>
            <a:off x="5221224" y="3616794"/>
            <a:ext cx="658368" cy="1458126"/>
          </a:xfrm>
          <a:prstGeom prst="rect">
            <a:avLst/>
          </a:prstGeom>
          <a:solidFill>
            <a:srgbClr val="1F5F6B"/>
          </a:solidFill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endParaRPr lang="en-GB"/>
          </a:p>
        </p:txBody>
      </p:sp>
      <p:sp>
        <p:nvSpPr>
          <p:cNvPr id="20" name="Value 20"/>
          <p:cNvSpPr txBox="1"/>
          <p:nvPr/>
        </p:nvSpPr>
        <p:spPr>
          <a:xfrm>
            <a:off x="5166360" y="3305898"/>
            <a:ext cx="76809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1B2A30"/>
                </a:solidFill>
                <a:latin typeface="Calibri"/>
              </a:rPr>
              <a:t>1.82 s</a:t>
            </a:r>
          </a:p>
        </p:txBody>
      </p:sp>
      <p:sp>
        <p:nvSpPr>
          <p:cNvPr id="21" name="Version 21"/>
          <p:cNvSpPr txBox="1"/>
          <p:nvPr/>
        </p:nvSpPr>
        <p:spPr>
          <a:xfrm>
            <a:off x="5166360" y="5111496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55666C"/>
                </a:solidFill>
                <a:latin typeface="Calibri"/>
              </a:rPr>
              <a:t>3.4.1</a:t>
            </a:r>
          </a:p>
        </p:txBody>
      </p:sp>
      <p:sp>
        <p:nvSpPr>
          <p:cNvPr id="22" name="Group 22"/>
          <p:cNvSpPr txBox="1"/>
          <p:nvPr/>
        </p:nvSpPr>
        <p:spPr>
          <a:xfrm>
            <a:off x="3648456" y="5385816"/>
            <a:ext cx="22311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1B2A30"/>
                </a:solidFill>
                <a:latin typeface="Calibri"/>
              </a:rPr>
              <a:t>Warm task</a:t>
            </a:r>
          </a:p>
        </p:txBody>
      </p:sp>
      <p:sp>
        <p:nvSpPr>
          <p:cNvPr id="23" name="Findings 23"/>
          <p:cNvSpPr txBox="1"/>
          <p:nvPr/>
        </p:nvSpPr>
        <p:spPr>
          <a:xfrm>
            <a:off x="6858000" y="1554480"/>
            <a:ext cx="4754880" cy="4114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pPr algn="l" marL="285750" indent="-28575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GB" sz="1600" b="1" dirty="0">
                <a:solidFill>
                  <a:srgbClr val="1F5F6B"/>
                </a:solidFill>
                <a:latin typeface="Calibri"/>
              </a:rPr>
              <a:t>3.4.1 against 3.4.0: about 10% faster cold and 19% faster warm</a:t>
            </a:r>
          </a:p>
          <a:p>
            <a:pPr algn="l" marL="285750" indent="-28575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Against 3.3.0: +83% cold and +23% warm</a:t>
            </a:r>
          </a:p>
          <a:p>
            <a:pPr algn="l" marL="285750" indent="-28575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Mostly a fixed cost per call; a 2-file repository showed a similar overhead (one round, indicative)</a:t>
            </a:r>
          </a:p>
          <a:p>
            <a:pPr algn="l" marL="285750" indent="-28575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en-GB" sz="1600" b="0" dirty="0">
                <a:solidFill>
                  <a:srgbClr val="1B2A30"/>
                </a:solidFill>
                <a:latin typeface="Calibri"/>
              </a:rPr>
              <a:t>What it buys: uncommitted edits are seen, ranked retrieval, the G8 checks</a:t>
            </a:r>
          </a:p>
          <a:p>
            <a:pPr algn="l"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GB" sz="1600" b="1" dirty="0">
                <a:solidFill>
                  <a:srgbClr val="B42318"/>
                </a:solidFill>
                <a:latin typeface="Calibri"/>
              </a:rPr>
              <a:t>Copilot tokens and interactions: NOT VERIFIED</a:t>
            </a:r>
          </a:p>
        </p:txBody>
      </p:sp>
      <p:sp>
        <p:nvSpPr>
          <p:cNvPr id="24" name="Caption 24"/>
          <p:cNvSpPr txBox="1"/>
          <p:nvPr/>
        </p:nvSpPr>
        <p:spPr>
          <a:xfrm>
            <a:off x="548640" y="583387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0973" rIns="18288" bIns="10973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dirty="0">
                <a:solidFill>
                  <a:srgbClr val="55666C"/>
                </a:solidFill>
                <a:latin typeface="Calibri"/>
              </a:rPr>
              <a:t>Interleaved over 6 rounds, medians, 663-file repository, Windows PowerShell 5.1. An earlier "a third faster" estimate was withdrawn: it compared runs under different load.</a:t>
            </a:r>
          </a:p>
        </p:txBody>
      </p:sp>
      <p:sp>
        <p:nvSpPr>
          <p:cNvPr id="25" name="Footer 25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0973" rIns="18288" bIns="10973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5666C"/>
                </a:solidFill>
                <a:latin typeface="Calibri"/>
              </a:rPr>
              <a:t>Akzo SDD Agent — Developed and maintained by Arun RG  ·  3.4.1 release candidate  ·  corporate readiness: NOT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51560"/>
          </a:xfrm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10242B"/>
                </a:solidFill>
                <a:latin typeface="Cambria"/>
              </a:rPr>
              <a:t>Remaining limitations, and what stays NOT VERIFIED</a:t>
            </a:r>
          </a:p>
        </p:txBody>
      </p:sp>
      <p:sp>
        <p:nvSpPr>
          <p:cNvPr id="3" name="Limits 3"/>
          <p:cNvSpPr/>
          <p:nvPr/>
        </p:nvSpPr>
        <p:spPr>
          <a:xfrm>
            <a:off x="548640" y="1463040"/>
            <a:ext cx="59436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182880" tIns="109728" rIns="182880" bIns="109728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000" b="1" dirty="0">
                <a:solidFill>
                  <a:srgbClr val="B42318"/>
                </a:solidFill>
                <a:latin typeface="Calibri"/>
              </a:rPr>
              <a:t>Known limitations</a:t>
            </a:r>
          </a:p>
          <a:p>
            <a:pPr algn="l" marL="285750" indent="-28575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GB" sz="1400" b="1" dirty="0">
                <a:solidFill>
                  <a:srgbClr val="1B2A30"/>
                </a:solidFill>
                <a:latin typeface="Calibri"/>
              </a:rPr>
              <a:t>Your authorization file can be written by anything running as you, including a model. Instructions alone do not enforce approval; an administrator policy.json with allowDeveloperAttestation false does</a:t>
            </a:r>
          </a:p>
          <a:p>
            <a:pPr algn="l" marL="285750" indent="-28575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The command guard is run by the agent; Copilot has no hook that forces it</a:t>
            </a:r>
          </a:p>
          <a:p>
            <a:pPr algn="l" marL="285750" indent="-28575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Secret, suppression, and dependency scans are pattern-based</a:t>
            </a:r>
          </a:p>
          <a:p>
            <a:pPr algn="l" marL="285750" indent="-28575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Symbols come from regular expressions, not a parser</a:t>
            </a:r>
          </a:p>
          <a:p>
            <a:pPr algn="l"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Slower per call than 3.3.0; memory is protected by permissions, not encrypted</a:t>
            </a:r>
          </a:p>
        </p:txBody>
      </p:sp>
      <p:sp>
        <p:nvSpPr>
          <p:cNvPr id="4" name="Unverified 4"/>
          <p:cNvSpPr/>
          <p:nvPr/>
        </p:nvSpPr>
        <p:spPr>
          <a:xfrm>
            <a:off x="6675120" y="1463040"/>
            <a:ext cx="49377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0"/>
            </a:solidFill>
          </a:ln>
        </p:spPr>
        <p:txBody>
          <a:bodyPr wrap="square" lIns="182880" tIns="109728" rIns="182880" bIns="109728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2000" b="1" dirty="0">
                <a:solidFill>
                  <a:srgbClr val="C77A12"/>
                </a:solidFill>
                <a:latin typeface="Calibri"/>
              </a:rPr>
              <a:t>NOT VERIFIED</a:t>
            </a:r>
          </a:p>
          <a:p>
            <a:pPr algn="l" marL="285750" indent="-28575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Corporate approval, approved models, DLP and endpoint policy</a:t>
            </a:r>
          </a:p>
          <a:p>
            <a:pPr algn="l" marL="285750" indent="-28575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A real Sonar server, secret scanner, and dependency scanner</a:t>
            </a:r>
          </a:p>
          <a:p>
            <a:pPr algn="l" marL="285750" indent="-28575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Real Copilot sessions and Visual Studio 2026</a:t>
            </a:r>
          </a:p>
          <a:p>
            <a:pPr algn="l" marL="285750" indent="-28575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Tokens and interactions saved</a:t>
            </a:r>
          </a:p>
          <a:p>
            <a:pPr algn="l" marL="285750" indent="-28575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One unexplained test failure that has not recurred in more than 15 full runs</a:t>
            </a:r>
          </a:p>
          <a:p>
            <a:pPr algn="l"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GB" sz="1400" b="0" dirty="0">
                <a:solidFill>
                  <a:srgbClr val="1B2A30"/>
                </a:solidFill>
                <a:latin typeface="Calibri"/>
              </a:rPr>
              <a:t>This deck was built without a renderer: open it once in PowerPoint before presenting</a:t>
            </a:r>
          </a:p>
        </p:txBody>
      </p:sp>
      <p:sp>
        <p:nvSpPr>
          <p:cNvPr id="5" name="Footer 5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0973" rIns="18288" bIns="10973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5666C"/>
                </a:solidFill>
                <a:latin typeface="Calibri"/>
              </a:rPr>
              <a:t>Akzo SDD Agent — Developed and maintained by Arun RG  ·  3.4.1 release candidate  ·  corporate readiness: NOT 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51560"/>
          </a:xfrm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10242B"/>
                </a:solidFill>
                <a:latin typeface="Cambria"/>
              </a:rPr>
              <a:t>Approvals still required before corporate use</a:t>
            </a:r>
          </a:p>
        </p:txBody>
      </p:sp>
      <p:graphicFrame>
        <p:nvGraphicFramePr>
          <p:cNvPr id="3" name="Approvals 3"/>
          <p:cNvGraphicFramePr>
            <a:graphicFrameLocks noGrp="1"/>
          </p:cNvGraphicFramePr>
          <p:nvPr/>
        </p:nvGraphicFramePr>
        <p:xfrm>
          <a:off x="548640" y="1463040"/>
          <a:ext cx="11064240" cy="2609088"/>
        </p:xfrm>
        <a:graphic>
          <a:graphicData uri="http://schemas.openxmlformats.org/drawingml/2006/table">
            <a:tbl>
              <a:tblPr firstRow="1" bandRow="1"/>
              <a:tblGrid>
                <a:gridCol w="7680960"/>
                <a:gridCol w="3383280"/>
              </a:tblGrid>
              <a:tr h="3444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Approval or action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10242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10242B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Information-security approval per repository classification, and the approved model list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Security / AI governance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Administrator-managed policy.json that users cannot write (enforces developer approval)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Platform administrators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Code-signing of all scripts; review of the ExecutionPolicy Bypass launches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Security / release engineering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Endpoint-security review and allow-listing by publisher or hash, never by exclusion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Endpoint security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Approved secret, dependency, and Sonar tooling wired into G8 evidence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Security / DevOps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Pilot with real Copilot sessions and Visual Studio 2026; licence decision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 b="0" dirty="0">
                          <a:solidFill>
                            <a:srgbClr val="1B2A30"/>
                          </a:solidFill>
                          <a:latin typeface="Calibri"/>
                        </a:rPr>
                        <a:t>Engineering / owner</a:t>
                      </a:r>
                    </a:p>
                  </a:txBody>
                  <a:tcPr marL="91440" marR="91440" marT="54864" marB="54864" anchor="ctr">
                    <a:lnL w="6350">
                      <a:solidFill>
                        <a:srgbClr val="D5DEE0"/>
                      </a:solidFill>
                    </a:lnL>
                    <a:lnR w="6350">
                      <a:solidFill>
                        <a:srgbClr val="D5DEE0"/>
                      </a:solidFill>
                    </a:lnR>
                    <a:lnT w="6350">
                      <a:solidFill>
                        <a:srgbClr val="D5DEE0"/>
                      </a:solidFill>
                    </a:lnT>
                    <a:lnB w="6350">
                      <a:solidFill>
                        <a:srgbClr val="D5DEE0"/>
                      </a:solidFill>
                    </a:lnB>
                    <a:solidFill>
                      <a:srgbClr val="EAF0F1"/>
                    </a:solidFill>
                  </a:tcPr>
                </a:tc>
              </a:tr>
            </a:tbl>
          </a:graphicData>
        </a:graphic>
      </p:graphicFrame>
      <p:sp>
        <p:nvSpPr>
          <p:cNvPr id="4" name="Hash 4"/>
          <p:cNvSpPr txBox="1"/>
          <p:nvPr/>
        </p:nvSpPr>
        <p:spPr>
          <a:xfrm>
            <a:off x="548640" y="4255008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65837" rIns="109728" bIns="65837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1B2A30"/>
                </a:solidFill>
                <a:latin typeface="Calibri"/>
              </a:rPr>
              <a:t>Package: </a:t>
            </a:r>
            <a:r>
              <a:rPr lang="en-GB" sz="1400" b="0" dirty="0">
                <a:solidFill>
                  <a:srgbClr val="1B2A30"/>
                </a:solidFill>
                <a:latin typeface="Calibri"/>
              </a:rPr>
              <a:t>Akzo-Agent-3.4.1.zip (release candidate), SHA-256 4B7E1A5697053D0AA96F5394F286F78C2749CF127D5FE8C2CFEDC73C55FAF171. A hash shows the file is unchanged, not who approved it.</a:t>
            </a:r>
          </a:p>
        </p:txBody>
      </p:sp>
      <p:sp>
        <p:nvSpPr>
          <p:cNvPr id="5" name="Footer 5"/>
          <p:cNvSpPr txBox="1"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0973" rIns="18288" bIns="10973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dirty="0">
                <a:solidFill>
                  <a:srgbClr val="55666C"/>
                </a:solidFill>
                <a:latin typeface="Calibri"/>
              </a:rPr>
              <a:t>Akzo SDD Agent — Developed and maintained by Arun RG  ·  3.4.1 release candidate  ·  corporate readiness: NOT VERIFIED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kzo Demo">
  <a:themeElements>
    <a:clrScheme name="Akzo Demo">
      <a:dk1>
        <a:srgbClr val="1B2A30"/>
      </a:dk1>
      <a:lt1>
        <a:srgbClr val="FFFFFF"/>
      </a:lt1>
      <a:dk2>
        <a:srgbClr val="10242B"/>
      </a:dk2>
      <a:lt2>
        <a:srgbClr val="F3F6F7"/>
      </a:lt2>
      <a:accent1>
        <a:srgbClr val="1F5F6B"/>
      </a:accent1>
      <a:accent2>
        <a:srgbClr val="C77A12"/>
      </a:accent2>
      <a:accent3>
        <a:srgbClr val="1E7B46"/>
      </a:accent3>
      <a:accent4>
        <a:srgbClr val="B42318"/>
      </a:accent4>
      <a:accent5>
        <a:srgbClr val="8FA3A8"/>
      </a:accent5>
      <a:accent6>
        <a:srgbClr val="3E7C86"/>
      </a:accent6>
      <a:hlink>
        <a:srgbClr val="1F5F6B"/>
      </a:hlink>
      <a:folHlink>
        <a:srgbClr val="55666C"/>
      </a:folHlink>
    </a:clrScheme>
    <a:fontScheme name="Akzo Demo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Akzo De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PresentationFormat>Widescreen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Akzo Master SDD Agent 3.4.1 demo</dc:title>
  <dc:creator>Arun RG</dc:creator>
  <dcterms:created xsi:type="dcterms:W3CDTF">2026-10-26T03:16:03Z</dcterms:created>
  <dcterms:modified xsi:type="dcterms:W3CDTF">2026-10-26T03:16:03Z</dcterms:modified>
</cp:coreProperties>
</file>